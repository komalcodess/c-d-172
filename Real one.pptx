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1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8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2">
            <a:alphaModFix amt="51000"/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Picture 4" descr="A black and red sig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23512" y="669325"/>
            <a:ext cx="8831781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b="1" i="1" baseline="0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</a:rPr>
              <a:t>Hack- o – Holic 4.0</a:t>
            </a:r>
            <a:r>
              <a:rPr sz="5900" i="1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​</a:t>
            </a:r>
            <a:endParaRPr lang="en-US" i="1" dirty="0">
              <a:solidFill>
                <a:schemeClr val="accent2">
                  <a:lumMod val="49000"/>
                </a:schemeClr>
              </a:solidFill>
              <a:latin typeface="Copperplate Gothic Bold" panose="020E0705020206020404" pitchFamily="34" charset="0"/>
            </a:endParaRPr>
          </a:p>
          <a:p>
            <a:pPr algn="ctr"/>
            <a:endParaRPr lang="en-US" i="1" dirty="0">
              <a:latin typeface="Copperplate Gothic Bold" panose="020E07050202060204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0997" y="1967748"/>
            <a:ext cx="9085224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2800" b="1" baseline="0" dirty="0">
                <a:latin typeface="Montserrat"/>
              </a:rPr>
              <a:t>PROJECT TITLE:- CAMPUS SYNC</a:t>
            </a:r>
            <a:r>
              <a:rPr sz="2800" dirty="0">
                <a:latin typeface="Montserrat"/>
                <a:ea typeface="Montserrat"/>
                <a:cs typeface="Montserrat"/>
              </a:rPr>
              <a:t>​</a:t>
            </a:r>
            <a:endParaRPr lang="en-US" sz="2800" dirty="0"/>
          </a:p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72414" y="2835642"/>
            <a:ext cx="10617638" cy="24852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rtl="0">
              <a:lnSpc>
                <a:spcPts val="1950"/>
              </a:lnSpc>
            </a:pPr>
            <a:r>
              <a:rPr lang="en-US" sz="2000" b="1" baseline="0" dirty="0">
                <a:latin typeface="Roboto"/>
                <a:ea typeface="Segoe UI" panose="020B0502040204020203"/>
                <a:cs typeface="Segoe UI" panose="020B0502040204020203"/>
              </a:rPr>
              <a:t>Team Name:    </a:t>
            </a:r>
            <a:r>
              <a:rPr lang="en-US" sz="2000" dirty="0">
                <a:latin typeface="Roboto"/>
                <a:ea typeface="Segoe UI" panose="020B0502040204020203"/>
                <a:cs typeface="Segoe UI" panose="020B0502040204020203"/>
              </a:rPr>
              <a:t>​ </a:t>
            </a:r>
            <a:r>
              <a:rPr lang="en-US" sz="2400" dirty="0" err="1">
                <a:latin typeface="News706 BT" panose="02040804060705020204" pitchFamily="18" charset="0"/>
                <a:ea typeface="Segoe UI" panose="020B0502040204020203"/>
                <a:cs typeface="Segoe UI" panose="020B0502040204020203"/>
              </a:rPr>
              <a:t>CodeSphere</a:t>
            </a:r>
            <a:endParaRPr lang="en-US" sz="2000" dirty="0">
              <a:latin typeface="News706 BT" panose="02040804060705020204" pitchFamily="18" charset="0"/>
              <a:ea typeface="Segoe UI" panose="020B0502040204020203"/>
              <a:cs typeface="Segoe UI" panose="020B0502040204020203"/>
            </a:endParaRPr>
          </a:p>
          <a:p>
            <a:pPr rtl="0">
              <a:lnSpc>
                <a:spcPts val="1950"/>
              </a:lnSpc>
            </a:pPr>
            <a:endParaRPr lang="en-US" sz="2000" dirty="0">
              <a:latin typeface="Roboto"/>
              <a:ea typeface="Segoe UI" panose="020B0502040204020203"/>
              <a:cs typeface="Segoe UI" panose="020B0502040204020203"/>
            </a:endParaRPr>
          </a:p>
          <a:p>
            <a:pPr rtl="0">
              <a:lnSpc>
                <a:spcPts val="1950"/>
              </a:lnSpc>
            </a:pPr>
            <a:r>
              <a:rPr lang="en-US" sz="2000" b="1" baseline="0" dirty="0">
                <a:latin typeface="Roboto"/>
                <a:ea typeface="Segoe UI" panose="020B0502040204020203"/>
                <a:cs typeface="Segoe UI" panose="020B0502040204020203"/>
              </a:rPr>
              <a:t>Team Leader Name</a:t>
            </a:r>
            <a:r>
              <a:rPr lang="en-US" sz="2000" baseline="0" dirty="0">
                <a:latin typeface="Roboto"/>
                <a:ea typeface="Segoe UI" panose="020B0502040204020203"/>
                <a:cs typeface="Segoe UI" panose="020B0502040204020203"/>
              </a:rPr>
              <a:t>: </a:t>
            </a:r>
            <a:r>
              <a:rPr lang="en-US" sz="2000" dirty="0">
                <a:latin typeface="Rockwell" panose="02060603020205020403" pitchFamily="18" charset="0"/>
                <a:ea typeface="Segoe UI" panose="020B0502040204020203"/>
                <a:cs typeface="Segoe UI" panose="020B0502040204020203"/>
              </a:rPr>
              <a:t>​   Aayush Singh</a:t>
            </a:r>
          </a:p>
          <a:p>
            <a:pPr rtl="0">
              <a:lnSpc>
                <a:spcPts val="1950"/>
              </a:lnSpc>
            </a:pPr>
            <a:endParaRPr lang="en-US" sz="2000" dirty="0">
              <a:latin typeface="Roboto"/>
              <a:ea typeface="Segoe UI" panose="020B0502040204020203"/>
              <a:cs typeface="Segoe UI" panose="020B0502040204020203"/>
            </a:endParaRPr>
          </a:p>
          <a:p>
            <a:pPr rtl="0">
              <a:lnSpc>
                <a:spcPts val="2475"/>
              </a:lnSpc>
            </a:pPr>
            <a:r>
              <a:rPr lang="en-US" sz="2000" b="1" baseline="0" dirty="0">
                <a:latin typeface="Roboto"/>
                <a:ea typeface="Segoe UI" panose="020B0502040204020203"/>
                <a:cs typeface="Segoe UI" panose="020B0502040204020203"/>
              </a:rPr>
              <a:t>Team Member(s) Name</a:t>
            </a:r>
            <a:r>
              <a:rPr lang="en-US" sz="2000" baseline="0" dirty="0">
                <a:latin typeface="Roboto"/>
                <a:ea typeface="Segoe UI" panose="020B0502040204020203"/>
                <a:cs typeface="Segoe UI" panose="020B0502040204020203"/>
              </a:rPr>
              <a:t>: </a:t>
            </a:r>
            <a:r>
              <a:rPr lang="en-US" sz="2000" dirty="0">
                <a:latin typeface="Roboto"/>
                <a:ea typeface="Segoe UI" panose="020B0502040204020203"/>
                <a:cs typeface="Segoe UI" panose="020B0502040204020203"/>
              </a:rPr>
              <a:t>​ </a:t>
            </a:r>
            <a:r>
              <a:rPr lang="en-US" sz="2000" dirty="0">
                <a:latin typeface="Rockwell" panose="02060603020205020403" pitchFamily="18" charset="0"/>
                <a:ea typeface="Segoe UI" panose="020B0502040204020203"/>
                <a:cs typeface="Segoe UI" panose="020B0502040204020203"/>
              </a:rPr>
              <a:t>Aayush Singh,  Komal Negi,  Soumya Chamoli,  Kaushal Kandari</a:t>
            </a:r>
          </a:p>
          <a:p>
            <a:pPr rtl="0">
              <a:lnSpc>
                <a:spcPts val="2475"/>
              </a:lnSpc>
            </a:pPr>
            <a:r>
              <a:rPr lang="en-US" sz="2000" dirty="0">
                <a:latin typeface="Roboto"/>
                <a:ea typeface="Segoe UI" panose="020B0502040204020203"/>
                <a:cs typeface="Segoe UI" panose="020B0502040204020203"/>
              </a:rPr>
              <a:t>			</a:t>
            </a:r>
          </a:p>
          <a:p>
            <a:pPr rtl="0">
              <a:lnSpc>
                <a:spcPts val="1950"/>
              </a:lnSpc>
            </a:pPr>
            <a:r>
              <a:rPr lang="en-US" sz="2000" b="1" baseline="0" dirty="0">
                <a:latin typeface="Roboto"/>
                <a:ea typeface="Segoe UI" panose="020B0502040204020203"/>
                <a:cs typeface="Segoe UI" panose="020B0502040204020203"/>
              </a:rPr>
              <a:t>College Name</a:t>
            </a:r>
            <a:r>
              <a:rPr lang="en-US" sz="2000" baseline="0" dirty="0">
                <a:latin typeface="Roboto"/>
                <a:ea typeface="Segoe UI" panose="020B0502040204020203"/>
                <a:cs typeface="Segoe UI" panose="020B0502040204020203"/>
              </a:rPr>
              <a:t>:</a:t>
            </a:r>
            <a:r>
              <a:rPr lang="en-US" sz="2000" dirty="0">
                <a:latin typeface="Roboto"/>
                <a:ea typeface="Segoe UI" panose="020B0502040204020203"/>
                <a:cs typeface="Segoe UI" panose="020B0502040204020203"/>
              </a:rPr>
              <a:t>​ </a:t>
            </a:r>
            <a:r>
              <a:rPr lang="en-US" sz="2400" dirty="0">
                <a:latin typeface="Rockwell" panose="02060603020205020403" pitchFamily="18" charset="0"/>
                <a:ea typeface="Segoe UI" panose="020B0502040204020203"/>
                <a:cs typeface="Segoe UI" panose="020B0502040204020203"/>
              </a:rPr>
              <a:t>Graphic Era Hill University</a:t>
            </a:r>
            <a:endParaRPr lang="en-US" sz="2000" dirty="0">
              <a:latin typeface="Rockwell" panose="02060603020205020403" pitchFamily="18" charset="0"/>
              <a:ea typeface="Segoe UI" panose="020B0502040204020203"/>
              <a:cs typeface="Segoe UI" panose="020B0502040204020203"/>
            </a:endParaRPr>
          </a:p>
          <a:p>
            <a:pPr rtl="0">
              <a:lnSpc>
                <a:spcPts val="1500"/>
              </a:lnSpc>
            </a:pPr>
            <a:r>
              <a:rPr lang="en-US" sz="11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</a:p>
          <a:p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2">
            <a:alphaModFix amt="51000"/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 descr="A black and red sig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76860" y="669325"/>
            <a:ext cx="9384272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i="1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Problem Statement</a:t>
            </a:r>
            <a:r>
              <a:rPr sz="5900" i="1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​</a:t>
            </a:r>
            <a:endParaRPr lang="en-US" i="1" dirty="0">
              <a:solidFill>
                <a:schemeClr val="accent2">
                  <a:lumMod val="49000"/>
                </a:schemeClr>
              </a:solidFill>
              <a:latin typeface="Copperplate Gothic Bold" panose="020E0705020206020404" pitchFamily="34" charset="0"/>
            </a:endParaRPr>
          </a:p>
          <a:p>
            <a:pPr algn="ctr"/>
            <a:endParaRPr lang="en-US" i="1" dirty="0">
              <a:latin typeface="Copperplate Gothic Bold" panose="020E07050202060204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4203" y="1770434"/>
            <a:ext cx="10846341" cy="52952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85000"/>
              </a:lnSpc>
            </a:pPr>
            <a:r>
              <a:rPr lang="en-GB" sz="2800" b="1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Problem Statement</a:t>
            </a:r>
            <a:r>
              <a:rPr lang="en-GB" sz="2800" b="1" baseline="0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:  </a:t>
            </a:r>
          </a:p>
          <a:p>
            <a:r>
              <a:rPr lang="en-US" sz="2100" dirty="0">
                <a:latin typeface="Bookman Old Style" panose="02050604050505020204" pitchFamily="18" charset="0"/>
              </a:rPr>
              <a:t>When we began our academic journey, everything felt unclear and scattered. Important resources and information were not available in one place, making it difficult to stay on track.</a:t>
            </a:r>
          </a:p>
          <a:p>
            <a:r>
              <a:rPr lang="en-US" sz="2100" dirty="0">
                <a:latin typeface="Bookman Old Style" panose="02050604050505020204" pitchFamily="18" charset="0"/>
              </a:rPr>
              <a:t>Additionally, limited interaction with seniors meant missing out on valuable guidance and real experiences.</a:t>
            </a:r>
          </a:p>
          <a:p>
            <a:pPr>
              <a:lnSpc>
                <a:spcPct val="85000"/>
              </a:lnSpc>
            </a:pPr>
            <a:endParaRPr lang="en-GB" sz="20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  <a:spcBef>
                <a:spcPts val="975"/>
              </a:spcBef>
            </a:pPr>
            <a:r>
              <a:rPr lang="en-GB" sz="2800" b="1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Detailed description of the problem</a:t>
            </a:r>
            <a:r>
              <a:rPr lang="en-GB" sz="2800" b="1" baseline="0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: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Students face difficulty accessing reliable study materials and forming </a:t>
            </a:r>
            <a:r>
              <a:rPr lang="en-US" sz="2000" dirty="0" err="1">
                <a:latin typeface="Bookman Old Style" panose="02050604050505020204" pitchFamily="18" charset="0"/>
              </a:rPr>
              <a:t>organised</a:t>
            </a:r>
            <a:r>
              <a:rPr lang="en-US" sz="2000" dirty="0">
                <a:latin typeface="Bookman Old Style" panose="02050604050505020204" pitchFamily="18" charset="0"/>
              </a:rPr>
              <a:t> study groups. Academic resources are scattered across platforms, making them hard to find and verify.</a:t>
            </a:r>
          </a:p>
          <a:p>
            <a:pPr>
              <a:lnSpc>
                <a:spcPct val="85000"/>
              </a:lnSpc>
              <a:spcBef>
                <a:spcPts val="975"/>
              </a:spcBef>
            </a:pPr>
            <a:r>
              <a:rPr lang="en-US" sz="2000" dirty="0">
                <a:latin typeface="Bookman Old Style" panose="02050604050505020204" pitchFamily="18" charset="0"/>
              </a:rPr>
              <a:t>At the same time, there’s no easy way for students to interact with seniors or professors, which limits guidance and overall learning.</a:t>
            </a:r>
            <a:endParaRPr lang="en-GB" sz="2000" b="1" baseline="0" dirty="0">
              <a:solidFill>
                <a:srgbClr val="262626"/>
              </a:solidFill>
              <a:latin typeface="Bookman Old Style" panose="02050604050505020204" pitchFamily="18" charset="0"/>
              <a:ea typeface="Lato"/>
              <a:cs typeface="Lato"/>
            </a:endParaRPr>
          </a:p>
          <a:p>
            <a:pPr>
              <a:lnSpc>
                <a:spcPct val="85000"/>
              </a:lnSpc>
              <a:spcBef>
                <a:spcPts val="975"/>
              </a:spcBef>
            </a:pPr>
            <a:endParaRPr lang="en-GB" sz="20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  <a:p>
            <a:pPr algn="ctr" rtl="0">
              <a:lnSpc>
                <a:spcPts val="1500"/>
              </a:lnSpc>
            </a:pPr>
            <a:r>
              <a:rPr lang="en-US" sz="20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</a:p>
          <a:p>
            <a:pPr algn="ctr"/>
            <a:r>
              <a:rPr lang="en-US" sz="2000" dirty="0"/>
              <a:t>`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2">
            <a:alphaModFix amt="51000"/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0" name="Picture 9" descr="A black and red sig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36043" y="402774"/>
            <a:ext cx="8865166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i="1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Proposed Solution</a:t>
            </a:r>
            <a:r>
              <a:rPr sz="5900" i="1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​</a:t>
            </a:r>
            <a:endParaRPr lang="en-US" i="1" dirty="0">
              <a:solidFill>
                <a:schemeClr val="accent2">
                  <a:lumMod val="49000"/>
                </a:schemeClr>
              </a:solidFill>
              <a:latin typeface="Copperplate Gothic Bold" panose="020E0705020206020404" pitchFamily="34" charset="0"/>
            </a:endParaRPr>
          </a:p>
          <a:p>
            <a:pPr algn="ctr"/>
            <a:endParaRPr lang="en-US" i="1" dirty="0">
              <a:latin typeface="Copperplate Gothic Bold" panose="020E07050202060204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8019" y="1459149"/>
            <a:ext cx="11108986" cy="62278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85000"/>
              </a:lnSpc>
            </a:pPr>
            <a:r>
              <a:rPr lang="en-GB" sz="2400" dirty="0">
                <a:solidFill>
                  <a:srgbClr val="262626"/>
                </a:solidFill>
                <a:latin typeface="Clarendon Blk BT" panose="02040905050505020204" pitchFamily="18" charset="0"/>
                <a:ea typeface="Calibri Light" panose="020F0302020204030204"/>
                <a:cs typeface="Calibri Light" panose="020F0302020204030204"/>
              </a:rPr>
              <a:t>Solution Statement</a:t>
            </a:r>
            <a:r>
              <a:rPr lang="en-GB" sz="2400" b="1" baseline="0" dirty="0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:</a:t>
            </a:r>
            <a:r>
              <a:rPr lang="en-GB" sz="2400" b="1" dirty="0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 </a:t>
            </a:r>
          </a:p>
          <a:p>
            <a:pPr>
              <a:lnSpc>
                <a:spcPct val="85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A </a:t>
            </a:r>
            <a:r>
              <a:rPr lang="en-US" sz="2400" dirty="0" err="1">
                <a:latin typeface="Bookman Old Style" panose="02050604050505020204" pitchFamily="18" charset="0"/>
              </a:rPr>
              <a:t>centralised</a:t>
            </a:r>
            <a:r>
              <a:rPr lang="en-US" sz="2400" dirty="0">
                <a:latin typeface="Bookman Old Style" panose="02050604050505020204" pitchFamily="18" charset="0"/>
              </a:rPr>
              <a:t> platform for students, seniors, and professors to collaborate, recommend, share resources, and support academic learning.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  <a:spcBef>
                <a:spcPts val="975"/>
              </a:spcBef>
            </a:pPr>
            <a:endParaRPr lang="en-US" sz="2400" dirty="0">
              <a:latin typeface="Bookman Old Style" panose="02050604050505020204" pitchFamily="18" charset="0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  <a:spcBef>
                <a:spcPts val="975"/>
              </a:spcBef>
            </a:pPr>
            <a:r>
              <a:rPr lang="en-GB" sz="2400" b="1" dirty="0">
                <a:solidFill>
                  <a:srgbClr val="262626"/>
                </a:solidFill>
                <a:latin typeface="Bookman Old Style" panose="02050604050505020204" pitchFamily="18" charset="0"/>
                <a:ea typeface="Calibri Light" panose="020F0302020204030204"/>
                <a:cs typeface="Calibri Light" panose="020F0302020204030204"/>
              </a:rPr>
              <a:t>Detailed Solution Description</a:t>
            </a:r>
            <a:r>
              <a:rPr lang="en-GB" sz="2400" b="1" baseline="0" dirty="0">
                <a:solidFill>
                  <a:srgbClr val="262626"/>
                </a:solidFill>
                <a:latin typeface="Bookman Old Style" panose="02050604050505020204" pitchFamily="18" charset="0"/>
                <a:ea typeface="Calibri Light" panose="020F0302020204030204"/>
                <a:cs typeface="Calibri Light" panose="020F0302020204030204"/>
              </a:rPr>
              <a:t>:</a:t>
            </a:r>
            <a:r>
              <a:rPr lang="en-GB" sz="2400" b="1" dirty="0">
                <a:solidFill>
                  <a:srgbClr val="262626"/>
                </a:solidFill>
                <a:latin typeface="Bookman Old Style" panose="02050604050505020204" pitchFamily="18" charset="0"/>
                <a:ea typeface="Calibri Light" panose="020F0302020204030204"/>
                <a:cs typeface="Calibri Light" panose="020F0302020204030204"/>
              </a:rPr>
              <a:t> </a:t>
            </a:r>
          </a:p>
          <a:p>
            <a:r>
              <a:rPr lang="en-GB" sz="2400" b="1" dirty="0">
                <a:solidFill>
                  <a:srgbClr val="262626"/>
                </a:solidFill>
                <a:latin typeface="Bookman Old Style" panose="02050604050505020204" pitchFamily="18" charset="0"/>
                <a:ea typeface="Calibri Light" panose="020F0302020204030204"/>
                <a:cs typeface="Calibri Light" panose="020F0302020204030204"/>
              </a:rPr>
              <a:t> </a:t>
            </a:r>
            <a:r>
              <a:rPr lang="en-US" sz="2400" dirty="0">
                <a:latin typeface="Bookman Old Style" panose="02050604050505020204" pitchFamily="18" charset="0"/>
              </a:rPr>
              <a:t>A unified platform where students can: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 Join and create study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Share and access notes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Ask questions and get help from peers/seniors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Professors can recommend books, provide feedback, and guide students.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Can get peer-to-peer mentorship.</a:t>
            </a:r>
          </a:p>
          <a:p>
            <a:pPr>
              <a:lnSpc>
                <a:spcPct val="85000"/>
              </a:lnSpc>
              <a:spcBef>
                <a:spcPts val="975"/>
              </a:spcBef>
            </a:pPr>
            <a:r>
              <a:rPr lang="en-GB" sz="2400" b="1" dirty="0">
                <a:solidFill>
                  <a:srgbClr val="262626"/>
                </a:solidFill>
                <a:latin typeface="Bookman Old Style" panose="02050604050505020204" pitchFamily="18" charset="0"/>
                <a:ea typeface="Calibri Light" panose="020F0302020204030204"/>
                <a:cs typeface="Calibri Light" panose="020F0302020204030204"/>
              </a:rPr>
              <a:t>		</a:t>
            </a:r>
            <a:endParaRPr lang="en-GB" sz="2400" dirty="0">
              <a:solidFill>
                <a:srgbClr val="000000"/>
              </a:solidFill>
              <a:latin typeface="Bookman Old Style" panose="02050604050505020204" pitchFamily="18" charset="0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br>
              <a:rPr lang="en-US" dirty="0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</a:br>
            <a:endParaRPr lang="en-US" dirty="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254000">
              <a:lnSpc>
                <a:spcPct val="85000"/>
              </a:lnSpc>
            </a:pPr>
            <a:endParaRPr lang="en-US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r>
              <a:rPr lang="en-GB" sz="2000" b="1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`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2D9C32-D52A-B42F-F212-2C5D91E7C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728" y="3102029"/>
            <a:ext cx="2686050" cy="1704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2">
            <a:alphaModFix amt="51000"/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 descr="A black and red sig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88962" y="684876"/>
            <a:ext cx="797438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Technical Stack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​</a:t>
            </a:r>
            <a:endParaRPr lang="en-US" dirty="0">
              <a:solidFill>
                <a:schemeClr val="accent2">
                  <a:lumMod val="49000"/>
                </a:schemeClr>
              </a:solidFill>
              <a:latin typeface="Copperplate Gothic Bold" panose="020E0705020206020404" pitchFamily="34" charset="0"/>
            </a:endParaRPr>
          </a:p>
          <a:p>
            <a:pPr algn="ctr"/>
            <a:endParaRPr lang="en-US" dirty="0">
              <a:latin typeface="Copperplate Gothic Bold" panose="020E07050202060204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83D6E7C-0537-0078-2897-A8A684F3F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10" y="2106038"/>
            <a:ext cx="8229600" cy="4525963"/>
          </a:xfrm>
        </p:spPr>
        <p:txBody>
          <a:bodyPr/>
          <a:lstStyle/>
          <a:p>
            <a:r>
              <a:rPr b="1" dirty="0">
                <a:latin typeface="Eras Bold ITC" panose="020B0907030504020204" pitchFamily="34" charset="0"/>
              </a:rPr>
              <a:t>Frontend</a:t>
            </a:r>
            <a:r>
              <a:rPr lang="en-US" b="1" dirty="0">
                <a:latin typeface="Eras Bold ITC" panose="020B0907030504020204" pitchFamily="34" charset="0"/>
              </a:rPr>
              <a:t>  </a:t>
            </a:r>
            <a:r>
              <a:rPr b="1" dirty="0">
                <a:latin typeface="Eras Bold ITC" panose="020B0907030504020204" pitchFamily="34" charset="0"/>
              </a:rPr>
              <a:t>: </a:t>
            </a:r>
            <a:r>
              <a:rPr lang="en-US" b="1" dirty="0">
                <a:latin typeface="Eras Bold ITC" panose="020B0907030504020204" pitchFamily="34" charset="0"/>
              </a:rPr>
              <a:t>	</a:t>
            </a:r>
            <a:r>
              <a:rPr lang="en-US" b="1" dirty="0">
                <a:latin typeface="Century751 BT" panose="02040503050505020304" pitchFamily="18" charset="0"/>
              </a:rPr>
              <a:t>HTML , CSS, </a:t>
            </a:r>
            <a:r>
              <a:rPr lang="en-US" b="1" dirty="0" err="1">
                <a:latin typeface="Century751 BT" panose="02040503050505020304" pitchFamily="18" charset="0"/>
              </a:rPr>
              <a:t>Javascript</a:t>
            </a:r>
            <a:endParaRPr b="1" dirty="0">
              <a:latin typeface="Century751 BT" panose="02040503050505020304" pitchFamily="18" charset="0"/>
            </a:endParaRPr>
          </a:p>
          <a:p>
            <a:r>
              <a:rPr b="1" dirty="0">
                <a:latin typeface="Eras Bold ITC" panose="020B0907030504020204" pitchFamily="34" charset="0"/>
              </a:rPr>
              <a:t>Backend</a:t>
            </a:r>
            <a:r>
              <a:rPr lang="en-US" b="1" dirty="0">
                <a:latin typeface="Eras Bold ITC" panose="020B0907030504020204" pitchFamily="34" charset="0"/>
              </a:rPr>
              <a:t>  </a:t>
            </a:r>
            <a:r>
              <a:rPr b="1" dirty="0">
                <a:latin typeface="Eras Bold ITC" panose="020B0907030504020204" pitchFamily="34" charset="0"/>
              </a:rPr>
              <a:t>:</a:t>
            </a:r>
          </a:p>
          <a:p>
            <a:r>
              <a:rPr b="1" dirty="0">
                <a:latin typeface="Eras Bold ITC" panose="020B0907030504020204" pitchFamily="34" charset="0"/>
              </a:rPr>
              <a:t>Database:</a:t>
            </a:r>
          </a:p>
          <a:p>
            <a:r>
              <a:rPr b="1" dirty="0">
                <a:latin typeface="Eras Bold ITC" panose="020B0907030504020204" pitchFamily="34" charset="0"/>
              </a:rPr>
              <a:t>Authentication</a:t>
            </a:r>
            <a:r>
              <a:rPr lang="en-US" b="1" dirty="0">
                <a:latin typeface="Eras Bold ITC" panose="020B0907030504020204" pitchFamily="34" charset="0"/>
              </a:rPr>
              <a:t>:</a:t>
            </a:r>
            <a:endParaRPr b="1" dirty="0">
              <a:latin typeface="Eras Bold ITC" panose="020B0907030504020204" pitchFamily="34" charset="0"/>
            </a:endParaRPr>
          </a:p>
          <a:p>
            <a:r>
              <a:rPr b="1">
                <a:latin typeface="Eras Bold ITC" panose="020B0907030504020204" pitchFamily="34" charset="0"/>
              </a:rPr>
              <a:t>Hosting:</a:t>
            </a:r>
            <a:endParaRPr b="1" dirty="0">
              <a:latin typeface="Eras Bold ITC" panose="020B0907030504020204" pitchFamily="34" charset="0"/>
            </a:endParaRP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71004-25E3-4422-8803-B0E51B542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77AC48-15C5-BE0F-8D00-80089999D0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aper with a picture of a cowboy hat&#10;&#10;AI-generated content may be incorrect.">
            <a:extLst>
              <a:ext uri="{FF2B5EF4-FFF2-40B4-BE49-F238E27FC236}">
                <a16:creationId xmlns:a16="http://schemas.microsoft.com/office/drawing/2014/main" id="{5FBD26CB-1ADA-E97A-78EF-1E7E2E787E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1000"/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 descr="A black and red sign&#10;&#10;AI-generated content may be incorrect.">
            <a:extLst>
              <a:ext uri="{FF2B5EF4-FFF2-40B4-BE49-F238E27FC236}">
                <a16:creationId xmlns:a16="http://schemas.microsoft.com/office/drawing/2014/main" id="{A63C4751-72E0-8351-0F61-3A974BA40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1F3168-0BE6-30C9-4BE8-4BBB1FDFC16D}"/>
              </a:ext>
            </a:extLst>
          </p:cNvPr>
          <p:cNvSpPr txBox="1"/>
          <p:nvPr/>
        </p:nvSpPr>
        <p:spPr>
          <a:xfrm>
            <a:off x="3488962" y="684876"/>
            <a:ext cx="797438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Key features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​</a:t>
            </a:r>
            <a:endParaRPr lang="en-US" dirty="0">
              <a:solidFill>
                <a:schemeClr val="accent2">
                  <a:lumMod val="49000"/>
                </a:schemeClr>
              </a:solidFill>
              <a:latin typeface="Copperplate Gothic Bold" panose="020E0705020206020404" pitchFamily="34" charset="0"/>
            </a:endParaRPr>
          </a:p>
          <a:p>
            <a:pPr algn="ctr"/>
            <a:endParaRPr lang="en-US" dirty="0">
              <a:latin typeface="Copperplate Gothic Bold" panose="020E07050202060204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B08A76-1A5C-B739-78AD-66FD48EDC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834" y="200072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Study Groups</a:t>
            </a:r>
          </a:p>
          <a:p>
            <a:r>
              <a:rPr lang="en-US" dirty="0"/>
              <a:t>Create and join subject-based study groups for collaborative learning.</a:t>
            </a:r>
          </a:p>
          <a:p>
            <a:pPr marL="0" indent="0">
              <a:buNone/>
            </a:pPr>
            <a:r>
              <a:rPr lang="en-US" b="1" dirty="0"/>
              <a:t>Notes Sharing</a:t>
            </a:r>
          </a:p>
          <a:p>
            <a:r>
              <a:rPr lang="en-US" dirty="0"/>
              <a:t>Share and access reliable study materials anytime</a:t>
            </a:r>
          </a:p>
          <a:p>
            <a:pPr marL="0" indent="0">
              <a:buNone/>
            </a:pPr>
            <a:r>
              <a:rPr lang="en-US" b="1" dirty="0"/>
              <a:t>Q&amp;A Support</a:t>
            </a:r>
          </a:p>
          <a:p>
            <a:r>
              <a:rPr lang="en-US" dirty="0"/>
              <a:t>Ask questions and get help from peers and seniors instantly.</a:t>
            </a:r>
          </a:p>
          <a:p>
            <a:pPr marL="0" indent="0">
              <a:buNone/>
            </a:pPr>
            <a:r>
              <a:rPr lang="en-US" b="1" dirty="0"/>
              <a:t> Expert Guidance</a:t>
            </a:r>
          </a:p>
          <a:p>
            <a:r>
              <a:rPr lang="en-US" dirty="0"/>
              <a:t>Professors can recommend resources and provide feedback.</a:t>
            </a:r>
          </a:p>
          <a:p>
            <a:pPr marL="0" indent="0">
              <a:buNone/>
            </a:pPr>
            <a:r>
              <a:rPr lang="en-US" b="1" dirty="0"/>
              <a:t> All-in-one platform</a:t>
            </a:r>
          </a:p>
          <a:p>
            <a:r>
              <a:rPr lang="en-US" dirty="0"/>
              <a:t>All academic resources and interactions in one place.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EFEBFF-8ADF-7850-112D-E6B0B6AFF1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392" r="6783" b="10042"/>
          <a:stretch>
            <a:fillRect/>
          </a:stretch>
        </p:blipFill>
        <p:spPr>
          <a:xfrm>
            <a:off x="9250418" y="504496"/>
            <a:ext cx="2467714" cy="172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EC9E5-BF7F-4713-8B70-2BE686DA9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84FB47-9225-E79B-231D-A5411FA7C0A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aper with a picture of a cowboy hat&#10;&#10;AI-generated content may be incorrect.">
            <a:extLst>
              <a:ext uri="{FF2B5EF4-FFF2-40B4-BE49-F238E27FC236}">
                <a16:creationId xmlns:a16="http://schemas.microsoft.com/office/drawing/2014/main" id="{10B67351-0B64-4213-833D-9D973D144F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1000"/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 descr="A black and red sign&#10;&#10;AI-generated content may be incorrect.">
            <a:extLst>
              <a:ext uri="{FF2B5EF4-FFF2-40B4-BE49-F238E27FC236}">
                <a16:creationId xmlns:a16="http://schemas.microsoft.com/office/drawing/2014/main" id="{9518F3E1-4220-4619-FB93-C66A0D5C2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640EFA-C069-0333-7062-43BA86EE28A2}"/>
              </a:ext>
            </a:extLst>
          </p:cNvPr>
          <p:cNvSpPr txBox="1"/>
          <p:nvPr/>
        </p:nvSpPr>
        <p:spPr>
          <a:xfrm>
            <a:off x="3488962" y="684876"/>
            <a:ext cx="797438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How it works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​</a:t>
            </a:r>
            <a:endParaRPr lang="en-US" dirty="0">
              <a:solidFill>
                <a:schemeClr val="accent2">
                  <a:lumMod val="49000"/>
                </a:schemeClr>
              </a:solidFill>
              <a:latin typeface="Copperplate Gothic Bold" panose="020E0705020206020404" pitchFamily="34" charset="0"/>
            </a:endParaRPr>
          </a:p>
          <a:p>
            <a:pPr algn="ctr"/>
            <a:r>
              <a:rPr lang="en-US" dirty="0">
                <a:latin typeface="Copperplate Gothic Bold" panose="020E0705020206020404" pitchFamily="34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57E1E-9BFC-6D1D-107E-6389BCC86F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7249" y="1682324"/>
            <a:ext cx="10893763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 up and create your profile to access a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personalised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learning dashboard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Join or create study groups to collaborate with peers on specific subjects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Upload, share, and explore notes and academic resources in one place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Ask questions and receive timely help from peers and experienced seniors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Interact, collaborate, and build a strong academic network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Get expert guidance, feedback, and recommendations from professors </a:t>
            </a:r>
          </a:p>
        </p:txBody>
      </p:sp>
    </p:spTree>
    <p:extLst>
      <p:ext uri="{BB962C8B-B14F-4D97-AF65-F5344CB8AC3E}">
        <p14:creationId xmlns:p14="http://schemas.microsoft.com/office/powerpoint/2010/main" val="1966220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9" descr="A black and red sig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05291" y="480728"/>
            <a:ext cx="88219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3200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Real World Application and Challenges </a:t>
            </a:r>
            <a:r>
              <a:rPr sz="3200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​</a:t>
            </a:r>
            <a:endParaRPr lang="en-US" sz="3200" dirty="0">
              <a:solidFill>
                <a:schemeClr val="accent2">
                  <a:lumMod val="49000"/>
                </a:schemeClr>
              </a:solidFill>
              <a:latin typeface="Copperplate Gothic Bold" panose="020E0705020206020404" pitchFamily="34" charset="0"/>
            </a:endParaRPr>
          </a:p>
          <a:p>
            <a:pPr algn="ctr"/>
            <a:endParaRPr lang="en-US" sz="3200" dirty="0">
              <a:latin typeface="Copperplate Gothic Bold" panose="020E07050202060204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847230E-3F08-8A83-D71A-8C2BC4A73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>
                <a:latin typeface="Eras Bold ITC" panose="020B0907030504020204" pitchFamily="34" charset="0"/>
              </a:rPr>
              <a:t>Applications:</a:t>
            </a:r>
          </a:p>
          <a:p>
            <a:r>
              <a:rPr dirty="0">
                <a:latin typeface="Century751 BT" panose="02040503050505020304" pitchFamily="18" charset="0"/>
              </a:rPr>
              <a:t> Improves collaboration among students</a:t>
            </a:r>
          </a:p>
          <a:p>
            <a:r>
              <a:rPr lang="en-US" dirty="0">
                <a:latin typeface="Century751 BT" panose="02040503050505020304" pitchFamily="18" charset="0"/>
              </a:rPr>
              <a:t> </a:t>
            </a:r>
            <a:r>
              <a:rPr lang="en-US" dirty="0" err="1">
                <a:latin typeface="Century751 BT" panose="02040503050505020304" pitchFamily="18" charset="0"/>
              </a:rPr>
              <a:t>Centralises</a:t>
            </a:r>
            <a:r>
              <a:rPr dirty="0">
                <a:latin typeface="Century751 BT" panose="02040503050505020304" pitchFamily="18" charset="0"/>
              </a:rPr>
              <a:t> academic resources</a:t>
            </a:r>
          </a:p>
          <a:p>
            <a:r>
              <a:rPr dirty="0">
                <a:latin typeface="Century751 BT" panose="02040503050505020304" pitchFamily="18" charset="0"/>
              </a:rPr>
              <a:t> Enables mentorship and guidance</a:t>
            </a:r>
            <a:endParaRPr lang="en-US" dirty="0">
              <a:latin typeface="Century751 BT" panose="02040503050505020304" pitchFamily="18" charset="0"/>
            </a:endParaRPr>
          </a:p>
          <a:p>
            <a:r>
              <a:rPr lang="en-US" dirty="0">
                <a:latin typeface="Century751 BT" panose="02040503050505020304" pitchFamily="18" charset="0"/>
              </a:rPr>
              <a:t>Quick doubt solving 	</a:t>
            </a:r>
            <a:endParaRPr dirty="0">
              <a:latin typeface="Century751 BT" panose="02040503050505020304" pitchFamily="18" charset="0"/>
            </a:endParaRPr>
          </a:p>
          <a:p>
            <a:endParaRPr dirty="0">
              <a:latin typeface="Century751 BT" panose="020405030505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Eras Bold ITC" panose="020B0907030504020204" pitchFamily="34" charset="0"/>
              </a:rPr>
              <a:t> </a:t>
            </a:r>
            <a:r>
              <a:rPr dirty="0">
                <a:latin typeface="Eras Bold ITC" panose="020B0907030504020204" pitchFamily="34" charset="0"/>
              </a:rPr>
              <a:t>Challenges:</a:t>
            </a:r>
          </a:p>
          <a:p>
            <a:r>
              <a:rPr dirty="0">
                <a:latin typeface="Century751 BT" panose="02040503050505020304" pitchFamily="18" charset="0"/>
              </a:rPr>
              <a:t> Ensuring content quality</a:t>
            </a:r>
          </a:p>
          <a:p>
            <a:r>
              <a:rPr dirty="0">
                <a:latin typeface="Century751 BT" panose="02040503050505020304" pitchFamily="18" charset="0"/>
              </a:rPr>
              <a:t>User engagement</a:t>
            </a:r>
          </a:p>
          <a:p>
            <a:r>
              <a:rPr dirty="0">
                <a:latin typeface="Century751 BT" panose="02040503050505020304" pitchFamily="18" charset="0"/>
              </a:rPr>
              <a:t>Data privacy and scalability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D53EE4-42A1-18EE-AD4F-702E9376D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010" y="2490952"/>
            <a:ext cx="4202153" cy="237602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8B824-3B40-B2F0-3F3A-8B8786922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3E8AF1-EBE9-7DDD-91F8-E7AEC952130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aper with a picture of a cowboy hat&#10;&#10;AI-generated content may be incorrect.">
            <a:extLst>
              <a:ext uri="{FF2B5EF4-FFF2-40B4-BE49-F238E27FC236}">
                <a16:creationId xmlns:a16="http://schemas.microsoft.com/office/drawing/2014/main" id="{7752BE1A-D07F-A1A2-F0C1-65B3DD8712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1000"/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 descr="A black and red sign&#10;&#10;AI-generated content may be incorrect.">
            <a:extLst>
              <a:ext uri="{FF2B5EF4-FFF2-40B4-BE49-F238E27FC236}">
                <a16:creationId xmlns:a16="http://schemas.microsoft.com/office/drawing/2014/main" id="{40ABA32C-F78B-B1E7-7EB2-1AF7453BC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3D9015-19D8-E6A9-E076-ED506D8D2591}"/>
              </a:ext>
            </a:extLst>
          </p:cNvPr>
          <p:cNvSpPr txBox="1"/>
          <p:nvPr/>
        </p:nvSpPr>
        <p:spPr>
          <a:xfrm>
            <a:off x="3488962" y="684876"/>
            <a:ext cx="797438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Future scope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Copperplate Gothic Bold" panose="020E0705020206020404" pitchFamily="34" charset="0"/>
                <a:ea typeface="Montserrat"/>
                <a:cs typeface="Montserrat"/>
              </a:rPr>
              <a:t>​</a:t>
            </a:r>
            <a:endParaRPr lang="en-US" dirty="0">
              <a:solidFill>
                <a:schemeClr val="accent2">
                  <a:lumMod val="49000"/>
                </a:schemeClr>
              </a:solidFill>
              <a:latin typeface="Copperplate Gothic Bold" panose="020E0705020206020404" pitchFamily="34" charset="0"/>
            </a:endParaRPr>
          </a:p>
          <a:p>
            <a:pPr algn="ctr"/>
            <a:endParaRPr lang="en-US" dirty="0">
              <a:latin typeface="Copperplate Gothic Bold" panose="020E07050202060204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C1003C-80A6-D8D7-4B14-A9CFE96EA8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1468" y="1385595"/>
            <a:ext cx="10572346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751 BT" panose="020405030505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751 BT" panose="02040503050505020304" pitchFamily="18" charset="0"/>
              </a:rPr>
              <a:t> AI-based </a:t>
            </a:r>
            <a:r>
              <a:rPr kumimoji="0" lang="en-US" altLang="en-US" sz="3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751 BT" panose="02040503050505020304" pitchFamily="18" charset="0"/>
              </a:rPr>
              <a:t>personalised</a:t>
            </a: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751 BT" panose="02040503050505020304" pitchFamily="18" charset="0"/>
              </a:rPr>
              <a:t> learning and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751 BT" panose="02040503050505020304" pitchFamily="18" charset="0"/>
              </a:rPr>
              <a:t> Real-time chat and one-on-one mentorship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751 BT" panose="02040503050505020304" pitchFamily="18" charset="0"/>
              </a:rPr>
              <a:t> Mobile application for better accessibility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751 BT" panose="02040503050505020304" pitchFamily="18" charset="0"/>
              </a:rPr>
              <a:t> Integration with college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751 BT" panose="02040503050505020304" pitchFamily="18" charset="0"/>
              </a:rPr>
              <a:t> Expansion to multiple institutions.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751 BT" panose="020405030505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7FA72B-507A-1B9D-60D5-83616DBB3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673" y="527488"/>
            <a:ext cx="2257425" cy="128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43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36B98-4BAE-023A-B03B-7994F3010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2818F4-91A7-1171-AE65-CCA9B4191C8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aper with a picture of a cowboy hat&#10;&#10;AI-generated content may be incorrect.">
            <a:extLst>
              <a:ext uri="{FF2B5EF4-FFF2-40B4-BE49-F238E27FC236}">
                <a16:creationId xmlns:a16="http://schemas.microsoft.com/office/drawing/2014/main" id="{5CF00F55-6D0C-5ACB-E922-F741376DBF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1000"/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 descr="A black and red sign&#10;&#10;AI-generated content may be incorrect.">
            <a:extLst>
              <a:ext uri="{FF2B5EF4-FFF2-40B4-BE49-F238E27FC236}">
                <a16:creationId xmlns:a16="http://schemas.microsoft.com/office/drawing/2014/main" id="{3C00AABB-5434-F985-11DD-7B90472F6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2C8FB8-1BFE-900F-B7BC-F7A7BED41B68}"/>
              </a:ext>
            </a:extLst>
          </p:cNvPr>
          <p:cNvSpPr txBox="1"/>
          <p:nvPr/>
        </p:nvSpPr>
        <p:spPr>
          <a:xfrm>
            <a:off x="1844988" y="937795"/>
            <a:ext cx="797438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13800" i="1" dirty="0">
                <a:solidFill>
                  <a:schemeClr val="accent2">
                    <a:lumMod val="49000"/>
                  </a:schemeClr>
                </a:solidFill>
                <a:latin typeface="Clarendon Blk BT" panose="02040905050505020204" pitchFamily="18" charset="0"/>
                <a:ea typeface="Montserrat"/>
                <a:cs typeface="Montserrat"/>
              </a:rPr>
              <a:t>Thank you</a:t>
            </a:r>
            <a:r>
              <a:rPr sz="13800" i="1" dirty="0">
                <a:solidFill>
                  <a:schemeClr val="accent2">
                    <a:lumMod val="49000"/>
                  </a:schemeClr>
                </a:solidFill>
                <a:latin typeface="Clarendon Blk BT" panose="02040905050505020204" pitchFamily="18" charset="0"/>
                <a:ea typeface="Montserrat"/>
                <a:cs typeface="Montserrat"/>
              </a:rPr>
              <a:t>​</a:t>
            </a:r>
            <a:endParaRPr lang="en-US" sz="4800" i="1" dirty="0">
              <a:solidFill>
                <a:schemeClr val="accent2">
                  <a:lumMod val="49000"/>
                </a:schemeClr>
              </a:solidFill>
              <a:latin typeface="Clarendon Blk BT" panose="02040905050505020204" pitchFamily="18" charset="0"/>
            </a:endParaRPr>
          </a:p>
          <a:p>
            <a:pPr algn="ctr"/>
            <a:endParaRPr lang="en-US" sz="4800" i="1" dirty="0">
              <a:latin typeface="Clarendon Blk BT" panose="0204090505050502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5EF56-ED23-EBBA-5C56-C499485C32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" t="36874" r="68238"/>
          <a:stretch>
            <a:fillRect/>
          </a:stretch>
        </p:blipFill>
        <p:spPr>
          <a:xfrm>
            <a:off x="457199" y="4099033"/>
            <a:ext cx="2758967" cy="223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87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</TotalTime>
  <Words>486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4" baseType="lpstr">
      <vt:lpstr>Aptos</vt:lpstr>
      <vt:lpstr>Aptos Display</vt:lpstr>
      <vt:lpstr>Arial</vt:lpstr>
      <vt:lpstr>Bookman Old Style</vt:lpstr>
      <vt:lpstr>Calibri Light</vt:lpstr>
      <vt:lpstr>Century751 BT</vt:lpstr>
      <vt:lpstr>Clarendon Blk BT</vt:lpstr>
      <vt:lpstr>Copperplate Gothic Bold</vt:lpstr>
      <vt:lpstr>Eras Bold ITC</vt:lpstr>
      <vt:lpstr>Lato</vt:lpstr>
      <vt:lpstr>Montserrat</vt:lpstr>
      <vt:lpstr>News706 BT</vt:lpstr>
      <vt:lpstr>Roboto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</dc:creator>
  <cp:lastModifiedBy>Komal Negi</cp:lastModifiedBy>
  <cp:revision>92</cp:revision>
  <dcterms:created xsi:type="dcterms:W3CDTF">2026-03-09T17:59:00Z</dcterms:created>
  <dcterms:modified xsi:type="dcterms:W3CDTF">2026-03-29T07:15:10Z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EFE50C7CC7354FAF8C634CEFB6B2F2DA_13</vt:lpwstr>
  </property>
  <property fmtid="{D5CDD505-2E9C-101B-9397-08002B2CF9AE}" pid="3" name="KSOProductBuildVer">
    <vt:lpwstr>1033-12.2.0.23196</vt:lpwstr>
  </property>
</Properties>
</file>